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Medium Cyst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1.4</c:v>
                </c:pt>
                <c:pt idx="2">
                  <c:v>1.7</c:v>
                </c:pt>
                <c:pt idx="3">
                  <c:v>1.3</c:v>
                </c:pt>
                <c:pt idx="4">
                  <c:v>1.6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2.6</c:v>
                </c:pt>
                <c:pt idx="1">
                  <c:v>2.9</c:v>
                </c:pt>
                <c:pt idx="2">
                  <c:v>2.3</c:v>
                </c:pt>
                <c:pt idx="3">
                  <c:v>2.7</c:v>
                </c:pt>
                <c:pt idx="4">
                  <c:v>2.5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 Cyst</c:v>
                </c:pt>
              </c:strCache>
            </c:strRef>
          </c:tx>
          <c:spPr>
            <a:solidFill>
              <a:srgbClr val="00B8D9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0B8D9"/>
              </a:solidFill>
              <a:ln w="9525" cap="flat">
                <a:solidFill>
                  <a:srgbClr val="00B8D9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1.4</c:v>
                </c:pt>
                <c:pt idx="2">
                  <c:v>1.7</c:v>
                </c:pt>
                <c:pt idx="3">
                  <c:v>1.3</c:v>
                </c:pt>
                <c:pt idx="4">
                  <c:v>1.6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4.4</c:v>
                </c:pt>
                <c:pt idx="2">
                  <c:v>3.7</c:v>
                </c:pt>
                <c:pt idx="3">
                  <c:v/>
                </c:pt>
                <c:pt idx="4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MCT</c:v>
                </c:pt>
              </c:strCache>
            </c:strRef>
          </c:tx>
          <c:spPr>
            <a:solidFill>
              <a:srgbClr val="8E9AA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1.4</c:v>
                </c:pt>
                <c:pt idx="2">
                  <c:v>1.7</c:v>
                </c:pt>
                <c:pt idx="3">
                  <c:v>1.3</c:v>
                </c:pt>
                <c:pt idx="4">
                  <c:v>1.6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3.1</c:v>
                </c:pt>
                <c:pt idx="1">
                  <c:v>3.4</c:v>
                </c:pt>
                <c:pt idx="2">
                  <c:v>2.8</c:v>
                </c:pt>
                <c:pt idx="3">
                  <c:v>3.6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Normal Control</c:v>
                </c:pt>
              </c:strCache>
            </c:strRef>
          </c:tx>
          <c:spPr>
            <a:solidFill>
              <a:srgbClr val="F2B134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1.4</c:v>
                </c:pt>
                <c:pt idx="2">
                  <c:v>1.7</c:v>
                </c:pt>
                <c:pt idx="3">
                  <c:v>1.3</c:v>
                </c:pt>
                <c:pt idx="4">
                  <c:v>1.6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0.5</c:v>
                </c:pt>
                <c:pt idx="1">
                  <c:v>0.8</c:v>
                </c:pt>
                <c:pt idx="2">
                  <c:v>0.3</c:v>
                </c:pt>
                <c:pt idx="3">
                  <c:v/>
                </c:pt>
                <c:pt idx="4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PC1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PC2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2E6E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Selected in every fold</c:v>
                </c:pt>
                <c:pt idx="1">
                  <c:v>Variable across folds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38</c:v>
                </c:pt>
                <c:pt idx="1">
                  <c:v>37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B8D9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SVM</c:v>
                  </c:pt>
                  <c:pt idx="1">
                    <c:v>Random Forest</c:v>
                  </c:pt>
                  <c:pt idx="2">
                    <c:v>MLP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90.48</c:v>
                </c:pt>
                <c:pt idx="1">
                  <c:v>80.95</c:v>
                </c:pt>
                <c:pt idx="2">
                  <c:v>71.43</c:v>
                </c:pt>
                <c:pt idx="3">
                  <c:v>52.38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QSVM</c:v>
                  </c:pt>
                  <c:pt idx="1">
                    <c:v>VQC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90.48</c:v>
                </c:pt>
                <c:pt idx="1">
                  <c:v>85.71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9525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B8D9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9A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9A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E9AA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SVM</c:v>
                  </c:pt>
                  <c:pt idx="1">
                    <c:v>QSVM</c:v>
                  </c:pt>
                  <c:pt idx="2">
                    <c:v>VQC</c:v>
                  </c:pt>
                  <c:pt idx="3">
                    <c:v>Random Forest</c:v>
                  </c:pt>
                  <c:pt idx="4">
                    <c:v>MLP</c:v>
                  </c:pt>
                  <c:pt idx="5">
                    <c:v>XGBoost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90.48</c:v>
                </c:pt>
                <c:pt idx="1">
                  <c:v>90.48</c:v>
                </c:pt>
                <c:pt idx="2">
                  <c:v>85.71</c:v>
                </c:pt>
                <c:pt idx="3">
                  <c:v>80.95</c:v>
                </c:pt>
                <c:pt idx="4">
                  <c:v>71.43</c:v>
                </c:pt>
                <c:pt idx="5">
                  <c:v>52.38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46304" cy="146304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1554480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40080"/>
            <a:ext cx="109728" cy="10972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2194560"/>
            <a:ext cx="73152" cy="73152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737360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822960"/>
            <a:ext cx="82296" cy="8229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Kidney Cyst Gene Expression Data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Classical and Quantum Machine Learning on the GSE7869 dataset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GSE7869 (NCBI GEO)   •   21 Samples   •   54,675 Genes → 75 Selected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91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" y="227685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cysts progress through distinct stages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5351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535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" y="287121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staging supports early diagnosis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478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" y="346557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50K+ genes is impractical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14223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" y="405993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ML/QML can automate reliable classification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45352" y="150876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9672" y="235915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3591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48856" y="227685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ML-ready gene expression dataset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9672" y="295351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29535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48856" y="287121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most informative genes (leakage-free)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35478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48856" y="346557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Classical ML models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19672" y="414223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48856" y="405993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evaluate Quantum ML models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19672" y="473659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3" name="Text 31"/>
          <p:cNvSpPr/>
          <p:nvPr/>
        </p:nvSpPr>
        <p:spPr>
          <a:xfrm>
            <a:off x="6519672" y="4736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48856" y="465429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best-performing approach overall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59536" y="21488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" y="21488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55264" y="2510028"/>
            <a:ext cx="283464" cy="237744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7" name="Shape 5"/>
          <p:cNvSpPr/>
          <p:nvPr/>
        </p:nvSpPr>
        <p:spPr>
          <a:xfrm>
            <a:off x="3557016" y="21488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21488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52744" y="2510028"/>
            <a:ext cx="283464" cy="237744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0" name="Shape 8"/>
          <p:cNvSpPr/>
          <p:nvPr/>
        </p:nvSpPr>
        <p:spPr>
          <a:xfrm>
            <a:off x="6254496" y="21488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21488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50224" y="2510028"/>
            <a:ext cx="283464" cy="237744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51976" y="21488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8997696" y="21488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" y="42062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42062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55264" y="4567428"/>
            <a:ext cx="283464" cy="237744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7016" y="42062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42062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52744" y="4567428"/>
            <a:ext cx="283464" cy="237744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42062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42062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50224" y="4567428"/>
            <a:ext cx="283464" cy="237744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24" name="Shape 22"/>
          <p:cNvSpPr/>
          <p:nvPr/>
        </p:nvSpPr>
        <p:spPr>
          <a:xfrm>
            <a:off x="8951976" y="420624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F2B134"/>
          </a:solidFill>
          <a:ln/>
        </p:spPr>
      </p:sp>
      <p:sp>
        <p:nvSpPr>
          <p:cNvPr id="25" name="Text 23"/>
          <p:cNvSpPr/>
          <p:nvPr/>
        </p:nvSpPr>
        <p:spPr>
          <a:xfrm>
            <a:off x="8997696" y="42062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140696" y="3108960"/>
            <a:ext cx="0" cy="54864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048256" y="3657600"/>
            <a:ext cx="8092440" cy="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048256" y="3657600"/>
            <a:ext cx="0" cy="54864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leakage-free pipeline connects every phase of the study.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GSE7869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0632" y="155448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8" name="Text 6"/>
          <p:cNvSpPr/>
          <p:nvPr/>
        </p:nvSpPr>
        <p:spPr>
          <a:xfrm>
            <a:off x="2862072" y="169164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NCBI GEO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62072" y="23317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2624" y="155448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169164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84064" y="23317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14616" y="155448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06056" y="169164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54,675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06056" y="23317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36608" y="155448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9528048" y="169164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528048" y="23317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486400" cy="2606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Minimally Cystic Tissue (MCT)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355080" y="3246120"/>
            <a:ext cx="5285232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Format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29400" y="391363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4" name="Text 21"/>
          <p:cNvSpPr/>
          <p:nvPr/>
        </p:nvSpPr>
        <p:spPr>
          <a:xfrm>
            <a:off x="6629400" y="39136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58584" y="3831336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Affymetrix CEL microarray files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629400" y="4480560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7" name="Text 24"/>
          <p:cNvSpPr/>
          <p:nvPr/>
        </p:nvSpPr>
        <p:spPr>
          <a:xfrm>
            <a:off x="6629400" y="4480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58584" y="4398264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~54,675 probe intensity values / sample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629400" y="5047488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7"/>
          <p:cNvSpPr/>
          <p:nvPr/>
        </p:nvSpPr>
        <p:spPr>
          <a:xfrm>
            <a:off x="6629400" y="5047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58584" y="496519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High-dimensional, low-sample-size data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79476" y="24688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89404" y="2802636"/>
            <a:ext cx="219456" cy="20116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7" name="Shape 5"/>
          <p:cNvSpPr/>
          <p:nvPr/>
        </p:nvSpPr>
        <p:spPr>
          <a:xfrm>
            <a:off x="2327148" y="24688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372868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37076" y="2802636"/>
            <a:ext cx="219456" cy="20116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0" name="Shape 8"/>
          <p:cNvSpPr/>
          <p:nvPr/>
        </p:nvSpPr>
        <p:spPr>
          <a:xfrm>
            <a:off x="4274820" y="24688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2802636"/>
            <a:ext cx="219456" cy="20116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2492" y="24688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8212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2420" y="2802636"/>
            <a:ext cx="219456" cy="20116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164" y="24688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15884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80092" y="2802636"/>
            <a:ext cx="219456" cy="20116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17836" y="24688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00B8D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3556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in R using the Bioconductor package on raw Affymetrix microarray data.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842516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1842516" y="4709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842516" y="5349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Retained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68596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709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54,675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768596" y="5349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Genes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94676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7694676" y="4709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694676" y="5349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Labels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Preprocessing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048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04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" y="2322576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54,675 features vs only 21 samples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906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" y="3008376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high-dimensional, low-sample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764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" y="3694176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used only for visualization (no leakage)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622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" y="4379976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show partial overlap on PCA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1480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48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" y="5065776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need for robust feature selection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06440" y="1554480"/>
            <a:ext cx="583387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806440" y="1554480"/>
            <a:ext cx="5833872" cy="4434840"/>
          </a:xfrm>
          <a:prstGeom prst="roundRect">
            <a:avLst>
              <a:gd name="adj" fmla="val 1649"/>
            </a:avLst>
          </a:prstGeom>
          <a:solidFill>
            <a:srgbClr val="F3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737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Visualization (2 Components)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035040" y="21031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Data Understanding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162556" y="1645920"/>
            <a:ext cx="78638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08276" y="16459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54,675 Genes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75604" y="2322576"/>
            <a:ext cx="237744" cy="128016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7" name="Shape 5"/>
          <p:cNvSpPr/>
          <p:nvPr/>
        </p:nvSpPr>
        <p:spPr>
          <a:xfrm>
            <a:off x="2894076" y="2468880"/>
            <a:ext cx="6400800" cy="658368"/>
          </a:xfrm>
          <a:prstGeom prst="roundRect">
            <a:avLst>
              <a:gd name="adj" fmla="val 9722"/>
            </a:avLst>
          </a:prstGeom>
          <a:solidFill>
            <a:srgbClr val="263480"/>
          </a:solidFill>
          <a:ln/>
        </p:spPr>
      </p:sp>
      <p:sp>
        <p:nvSpPr>
          <p:cNvPr id="8" name="Text 6"/>
          <p:cNvSpPr/>
          <p:nvPr/>
        </p:nvSpPr>
        <p:spPr>
          <a:xfrm>
            <a:off x="2939796" y="246888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Filtering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75604" y="3145536"/>
            <a:ext cx="237744" cy="128016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10" name="Shape 8"/>
          <p:cNvSpPr/>
          <p:nvPr/>
        </p:nvSpPr>
        <p:spPr>
          <a:xfrm>
            <a:off x="3351276" y="329184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96996" y="329184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Genes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75604" y="3968496"/>
            <a:ext cx="237744" cy="128016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13" name="Shape 11"/>
          <p:cNvSpPr/>
          <p:nvPr/>
        </p:nvSpPr>
        <p:spPr>
          <a:xfrm>
            <a:off x="3991356" y="411480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263480"/>
          </a:solidFill>
          <a:ln/>
        </p:spPr>
      </p:sp>
      <p:sp>
        <p:nvSpPr>
          <p:cNvPr id="14" name="Text 12"/>
          <p:cNvSpPr/>
          <p:nvPr/>
        </p:nvSpPr>
        <p:spPr>
          <a:xfrm>
            <a:off x="4037076" y="411480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mRMR Selection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75604" y="4791456"/>
            <a:ext cx="237744" cy="128016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8556" y="493776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494276" y="49377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Genes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502152" cy="4343400"/>
          </a:xfrm>
          <a:prstGeom prst="roundRect">
            <a:avLst>
              <a:gd name="adj" fmla="val 2089"/>
            </a:avLst>
          </a:prstGeom>
          <a:solidFill>
            <a:srgbClr val="F3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366760" y="231343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3134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95944" y="2231136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noisy, redundant genes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66760" y="309067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30906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95944" y="3008376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compute cost drastically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66760" y="386791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3867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95944" y="3785616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risk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464515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46451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95944" y="4562856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relevant, non-redundant genes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Feature Selection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Leave-One-Out Cross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3796" y="274320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Samples)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86100" y="3108960"/>
            <a:ext cx="347472" cy="274320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7" name="Shape 5"/>
          <p:cNvSpPr/>
          <p:nvPr/>
        </p:nvSpPr>
        <p:spPr>
          <a:xfrm>
            <a:off x="3488436" y="274320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34156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20740" y="3108960"/>
            <a:ext cx="347472" cy="274320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0" name="Shape 8"/>
          <p:cNvSpPr/>
          <p:nvPr/>
        </p:nvSpPr>
        <p:spPr>
          <a:xfrm>
            <a:off x="6323076" y="274320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68796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55380" y="3108960"/>
            <a:ext cx="347472" cy="274320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57716" y="274320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203436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Sample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346436" y="3749040"/>
            <a:ext cx="0" cy="109728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842516" y="4846320"/>
            <a:ext cx="8503920" cy="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842516" y="3749040"/>
            <a:ext cx="0" cy="109728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  <a:headEnd type="triangl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362956" y="4114800"/>
            <a:ext cx="1463040" cy="14630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9" name="Text 17"/>
          <p:cNvSpPr/>
          <p:nvPr/>
        </p:nvSpPr>
        <p:spPr>
          <a:xfrm>
            <a:off x="5362956" y="41148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21 samples is used as the test sample exactly once.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Nested LOOCV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Stability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Index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1920240" cy="19202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774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20440" y="2880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 of selected gene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across all 21 LOOCV folds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consistently the same genes were chosen across every training fold.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600200"/>
            <a:ext cx="565099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1600200"/>
            <a:ext cx="5650992" cy="4343400"/>
          </a:xfrm>
          <a:prstGeom prst="roundRect">
            <a:avLst>
              <a:gd name="adj" fmla="val 1684"/>
            </a:avLst>
          </a:prstGeom>
          <a:solidFill>
            <a:srgbClr val="F3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Core Gene Set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675120" y="21488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3246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/ 75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Feature Stability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Machine Learning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80644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380744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80744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handles feature interactions well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7852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187952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187952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5012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0732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gradient boosting; strong on structured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506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32220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7940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learning nonlinear gene patterns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2268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802368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802368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39428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5148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boundary; strong on small, high-dim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trained under the identical Nested LOOCV pipeline for a fair comparison.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Classical 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ML Results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828800"/>
          <a:ext cx="3977640" cy="2377440"/>
        </p:xfrm>
        <a:graphic>
          <a:graphicData uri="http://schemas.openxmlformats.org/drawingml/2006/table">
            <a:tbl>
              <a:tblPr/>
              <a:tblGrid>
                <a:gridCol w="1988820"/>
                <a:gridCol w="19888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80960" y="44805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</p:spPr>
      </p:sp>
      <p:sp>
        <p:nvSpPr>
          <p:cNvPr id="7" name="Text 3"/>
          <p:cNvSpPr/>
          <p:nvPr/>
        </p:nvSpPr>
        <p:spPr>
          <a:xfrm>
            <a:off x="790956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Model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909560" y="4937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— 90.48%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909560" y="5440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classical baseline for QML comparison.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Classical ML Results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Machine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16636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90956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51076" y="1874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Support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Machine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2396" y="283464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263480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" y="2834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13532" y="3419856"/>
            <a:ext cx="201168" cy="146304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11" name="Shape 9"/>
          <p:cNvSpPr/>
          <p:nvPr/>
        </p:nvSpPr>
        <p:spPr>
          <a:xfrm>
            <a:off x="882396" y="3547872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263480"/>
          </a:solidFill>
          <a:ln/>
        </p:spPr>
      </p:sp>
      <p:sp>
        <p:nvSpPr>
          <p:cNvPr id="12" name="Text 10"/>
          <p:cNvSpPr/>
          <p:nvPr/>
        </p:nvSpPr>
        <p:spPr>
          <a:xfrm>
            <a:off x="928116" y="354787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Feature Map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13532" y="4133088"/>
            <a:ext cx="201168" cy="146304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14" name="Shape 12"/>
          <p:cNvSpPr/>
          <p:nvPr/>
        </p:nvSpPr>
        <p:spPr>
          <a:xfrm>
            <a:off x="882396" y="4261104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263480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" y="42611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13532" y="4846320"/>
            <a:ext cx="201168" cy="146304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2396" y="4974336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00B8D9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" y="497433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1676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11796" y="1874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43116" y="283464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263480"/>
          </a:solidFill>
          <a:ln/>
        </p:spPr>
      </p:sp>
      <p:sp>
        <p:nvSpPr>
          <p:cNvPr id="24" name="Text 22"/>
          <p:cNvSpPr/>
          <p:nvPr/>
        </p:nvSpPr>
        <p:spPr>
          <a:xfrm>
            <a:off x="6688836" y="2834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74252" y="3419856"/>
            <a:ext cx="201168" cy="146304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26" name="Shape 24"/>
          <p:cNvSpPr/>
          <p:nvPr/>
        </p:nvSpPr>
        <p:spPr>
          <a:xfrm>
            <a:off x="6643116" y="3547872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263480"/>
          </a:solidFill>
          <a:ln/>
        </p:spPr>
      </p:sp>
      <p:sp>
        <p:nvSpPr>
          <p:cNvPr id="27" name="Text 25"/>
          <p:cNvSpPr/>
          <p:nvPr/>
        </p:nvSpPr>
        <p:spPr>
          <a:xfrm>
            <a:off x="6688836" y="354787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Circuit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74252" y="4133088"/>
            <a:ext cx="201168" cy="146304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29" name="Shape 27"/>
          <p:cNvSpPr/>
          <p:nvPr/>
        </p:nvSpPr>
        <p:spPr>
          <a:xfrm>
            <a:off x="6643116" y="4261104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263480"/>
          </a:solidFill>
          <a:ln/>
        </p:spPr>
      </p:sp>
      <p:sp>
        <p:nvSpPr>
          <p:cNvPr id="30" name="Text 28"/>
          <p:cNvSpPr/>
          <p:nvPr/>
        </p:nvSpPr>
        <p:spPr>
          <a:xfrm>
            <a:off x="6688836" y="42611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Parameters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74252" y="4846320"/>
            <a:ext cx="201168" cy="146304"/>
          </a:xfrm>
          <a:prstGeom prst="downArrow">
            <a:avLst/>
          </a:prstGeom>
          <a:solidFill>
            <a:srgbClr val="8E9AAF"/>
          </a:solidFill>
          <a:ln/>
        </p:spPr>
      </p:sp>
      <p:sp>
        <p:nvSpPr>
          <p:cNvPr id="32" name="Shape 30"/>
          <p:cNvSpPr/>
          <p:nvPr/>
        </p:nvSpPr>
        <p:spPr>
          <a:xfrm>
            <a:off x="6643116" y="4974336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00B8D9"/>
          </a:solidFill>
          <a:ln/>
        </p:spPr>
      </p:sp>
      <p:sp>
        <p:nvSpPr>
          <p:cNvPr id="33" name="Text 31"/>
          <p:cNvSpPr/>
          <p:nvPr/>
        </p:nvSpPr>
        <p:spPr>
          <a:xfrm>
            <a:off x="6688836" y="497433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Quantum ML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Model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93776" y="2743200"/>
            <a:ext cx="242316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" y="27432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Selected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3191256"/>
            <a:ext cx="393192" cy="29260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7" name="Shape 5"/>
          <p:cNvSpPr/>
          <p:nvPr/>
        </p:nvSpPr>
        <p:spPr>
          <a:xfrm>
            <a:off x="3419856" y="2743200"/>
            <a:ext cx="242316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65576" y="27432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3191256"/>
            <a:ext cx="393192" cy="29260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0" name="Shape 8"/>
          <p:cNvSpPr/>
          <p:nvPr/>
        </p:nvSpPr>
        <p:spPr>
          <a:xfrm>
            <a:off x="6345936" y="2743200"/>
            <a:ext cx="2423160" cy="1188720"/>
          </a:xfrm>
          <a:prstGeom prst="roundRect">
            <a:avLst>
              <a:gd name="adj" fmla="val 5385"/>
            </a:avLst>
          </a:prstGeom>
          <a:solidFill>
            <a:srgbClr val="00B8D9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27432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23960" y="3191256"/>
            <a:ext cx="393192" cy="292608"/>
          </a:xfrm>
          <a:prstGeom prst="rightArrow">
            <a:avLst/>
          </a:prstGeom>
          <a:solidFill>
            <a:srgbClr val="8E9AAF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2016" y="2743200"/>
            <a:ext cx="242316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317736" y="27432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LOOCV fold repeats this full pipeline end-to-end for the held-out test sample.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Quantum Workflow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ML Results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828800"/>
          <a:ext cx="3977640" cy="1463040"/>
        </p:xfrm>
        <a:graphic>
          <a:graphicData uri="http://schemas.openxmlformats.org/drawingml/2006/table">
            <a:tbl>
              <a:tblPr/>
              <a:tblGrid>
                <a:gridCol w="1988820"/>
                <a:gridCol w="19888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80960" y="35661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790956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Quantum Model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909560" y="4069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QSVM — 90.48%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909560" y="4572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best classical model using a quantum kernel to measure sample similarity in quantum feature space.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Quantum ML Results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vs. Quantum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920240"/>
          <a:ext cx="9601200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 (SVM)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SVM (QSVM)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Variational Quantum Classifier (VQC)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651760" y="429768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2651760" y="4434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 =  QSVM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51760" y="5029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methods match the strongest classical 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Classical vs Quantum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Performance Comparison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5806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  ■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5806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  ■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2160" y="5806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  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Overall Comparison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Senior Project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filtering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filtering + mRMR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LOOCV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LOOCV (leakage-free)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RF, XGBoost, MLP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and VQC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performed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Similarity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and preprocessing — the enhancements are methodological.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— Senior Project Comparison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2356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90956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1036" y="18928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Feature 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0956" y="2743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filtering + mRMR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1396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39996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3999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80076" y="18928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LOOCV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39996" y="2743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evaluation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0436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9036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8903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29116" y="18928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ML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9036" y="2743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RF, MLP, XGBoost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" y="3703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90956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31036" y="39044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 &amp; VQC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0956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Quantum ML 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1396" y="3703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39996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39996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0076" y="39044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39996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Index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0436" y="3703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89036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89036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29116" y="39044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89036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vs Quantum ML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202436" y="2194560"/>
            <a:ext cx="1554480" cy="1554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02436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28116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59836" y="2194560"/>
            <a:ext cx="1554480" cy="155448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8" name="Text 6"/>
          <p:cNvSpPr/>
          <p:nvPr/>
        </p:nvSpPr>
        <p:spPr>
          <a:xfrm>
            <a:off x="3259836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85516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17236" y="2194560"/>
            <a:ext cx="1554480" cy="1554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317236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2916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74636" y="2194560"/>
            <a:ext cx="1554480" cy="155448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74636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0316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32036" y="2194560"/>
            <a:ext cx="1554480" cy="1554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432036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57716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37360" y="4572000"/>
            <a:ext cx="868680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457200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to every Classical and Quantum model, alongside the Confusion Matrix, for a fair, complete comparison.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Classical ML baseline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9202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2148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45352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Quantum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5352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QSVM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45352" y="3886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90.48%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245352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best Classical 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— Final Results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50592"/>
            <a:ext cx="219456" cy="21945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" y="236829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 samples in total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19456" cy="21945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723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" y="2990088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publicly available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94176"/>
            <a:ext cx="219456" cy="21945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941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" y="361188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models run on simulation only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315968"/>
            <a:ext cx="219456" cy="21945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159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" y="4233672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quantum hardware execution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45352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9672" y="2450592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48856" y="236829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larger, multi-source datasets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9672" y="3072384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0723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48856" y="2990088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quantum models on real hardware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3694176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6941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48856" y="361188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additional quantum architectures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19672" y="4315968"/>
            <a:ext cx="219456" cy="21945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43159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48856" y="4233672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biomedical classification tasks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299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leakage-free pipeline was built from raw gene data to Classical &amp; Quantum 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85292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54,675 genes were reduced to 75 stable, informative features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67588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and QSVM tied for the highest accuracy at 90.48%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49884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also performed strongly at 85.71%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53218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methods proved competitive with the best classical approach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6309360"/>
            <a:ext cx="10881360" cy="0"/>
          </a:xfrm>
          <a:prstGeom prst="line">
            <a:avLst/>
          </a:prstGeom>
          <a:noFill/>
          <a:ln w="12700">
            <a:solidFill>
              <a:srgbClr val="3B4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GSE7869 Dataset — NCBI Gene Expression Omnibus (GEO)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GEO Database Documentation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Published Senior Project (Kidney Cyst Classification, MLP-based)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2062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Documentation — Quantum Machine Learning Framework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9834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peer-reviewed research papers on Quantum Machine Learning in biomedical classification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16952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Cyst Classification — CML vs QML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46304" cy="146304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1554480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40080"/>
            <a:ext cx="109728" cy="10972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394960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6126480"/>
            <a:ext cx="109728" cy="10972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180076" y="4434840"/>
            <a:ext cx="18288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 for Kidney Cyst Classification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2026-07-29T11:25:20Z</dcterms:created>
  <dcterms:modified xsi:type="dcterms:W3CDTF">2026-07-29T11:25:20Z</dcterms:modified>
</cp:coreProperties>
</file>